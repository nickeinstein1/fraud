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Sentinel: Adversarial Fraud Detection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4710" y="3200400"/>
            <a:ext cx="18292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3DFFA8"/>
                </a:solidFill>
              </a:defRPr>
            </a:pPr>
            <a:r>
              <a:rPr dirty="0"/>
              <a:t>Nick </a:t>
            </a:r>
            <a:r>
              <a:rPr lang="en-US" dirty="0"/>
              <a:t>Mwaura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B9BB4"/>
                </a:solidFill>
              </a:defRPr>
            </a:pPr>
            <a:r>
              <a:rPr dirty="0"/>
              <a:t>Data Science Final Project · In-Person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FFA8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Purpose: detect credit-card fraud in real time and monitor adversarial drift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Primary algorithm: CatBoost gradient boosted trees (depth 6, 500 iterations)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Supporting: SMOTE (class balance), Isolation Forest (anomalies), KS drift tests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Data: credit_dt fraudTrain.csv / fraudTest.csv (~1.3M / 555k rows)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Results: ROC-AUC 0.9851, F1 0.6887, Precision 0.704, Recall 0.674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Platform: Sentinel web UI + FastAPI + seven-layer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FFA8"/>
                </a:solidFill>
              </a:defRPr>
            </a:pPr>
            <a:r>
              <a:t>Existing System (Limitations)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9BB4"/>
                </a:solidFill>
              </a:defRPr>
            </a:pPr>
            <a:r>
              <a:t>What legacy fraud systems typically 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Rule-based velocity limits and static blacklists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Batch-only ML with no post-deployment drift monitoring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No unified pipeline — training, scoring, monitoring in separate scripts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Kaggle PCA features only — no merchant category or geography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No governance linking model quality to serve / retrain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FFA8"/>
                </a:solidFill>
              </a:defRPr>
            </a:pPr>
            <a:r>
              <a:t>Proposed System — Sentinel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Unified FraudAIPipeline: 10 orchestrated stages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13 engineered features including Haversine distance_km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REST API + Sentinel UI + WebSocket live stream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Model registry, telemetry, and model cards for audit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Governance layer: alert when ≥3 features drift (KS p &lt; 0.05)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FFA8"/>
                </a:solidFill>
              </a:defRPr>
            </a:pPr>
            <a:r>
              <a:t>Data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Source: fraudTrain.csv (train) · fraudTest.csv (test) — credit card transactions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Raw fields: amount, lat/long, merchant coords, category, gender, state, timestamp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Derived: trans_hour, trans_dow, distance_km (Haversine formula)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Target: is_fraud (0 = legitimate, 1 = fraud) — ~0.8% fraud in train sample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Caps: 200k train / 100k test rows for practical laptop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Architecture Diagram — Seven Layers</a:t>
            </a:r>
          </a:p>
        </p:txBody>
      </p:sp>
      <p:pic>
        <p:nvPicPr>
          <p:cNvPr id="3" name="Picture 2" descr="architectur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4" y="817006"/>
            <a:ext cx="5305647" cy="57209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50195" y="1657405"/>
            <a:ext cx="639548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rPr dirty="0"/>
              <a:t>Explanation: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 dirty="0"/>
              <a:t>• Top-down design: L1 Business sets policy; L4 ML Core computes predictions.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 dirty="0"/>
              <a:t>• L2 Experience is how users interact (Sentinel UI, API).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 dirty="0"/>
              <a:t>• L3 Orchestration runs the stage graph; L6/L7 handle versioning and audit.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 dirty="0"/>
              <a:t>• L5 Data feeds raw CSVs into the </a:t>
            </a:r>
            <a:r>
              <a:rPr dirty="0" err="1"/>
              <a:t>featurizer</a:t>
            </a:r>
            <a:r>
              <a:rPr dirty="0"/>
              <a:t> before modelling.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Pipeline Flow Diagram</a:t>
            </a:r>
          </a:p>
        </p:txBody>
      </p:sp>
      <p:pic>
        <p:nvPicPr>
          <p:cNvPr id="3" name="Picture 2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10789920" cy="3147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6052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Explanation: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Sequential stages executed by python main.py.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SMOTE applied only after ETL on training data — test set stays imbalanced.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Drift baseline saved before serving; KS test compares test vs train distributions.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Final model registered and promoted to production in the registry.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DFFA8"/>
                </a:solidFill>
              </a:defRPr>
            </a:pPr>
            <a:r>
              <a:t>Algorithm 1 — SMOTE (Class Balancing)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x_new = x_i + λ · (x_neighbor − x_i),  λ ∈ [0,1]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k_neighbors = 5,  sampling_strategy = auto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Applied to TRAIN only — fraud class ~0.8% → balanced ~50/50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Synthetic Minority Over-sampling Technique creates new fraud examples.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Interpolates between a real fraud point and one of its k nearest fraud neighbours.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Prevents CatBoost from ignoring the rare fraud class during training.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Test set is never SMOTE'd — evaluation reflects real-world imbalance.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DFFA8"/>
                </a:solidFill>
              </a:defRPr>
            </a:pPr>
            <a:r>
              <a:t>Algorithm 2 — Haversine Distance (Feature Engineering)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a = sin²(Δlat/2) + cos(lat₁)·cos(lat₂)·sin²(Δlon/2)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distance_km = 2 · R · arcsin(√a),   R = 6371 km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Inputs: cardholder (lat, long) and merchant (merch_lat, merch_long)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Computes great-circle distance between cardholder and purchase location.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Flags geographically implausible transactions (e.g. card in NY, merchant in CA).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Used as a numeric feature alongside raw coordinates in CatBoost.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DFFA8"/>
                </a:solidFill>
              </a:defRPr>
            </a:pPr>
            <a:r>
              <a:t>Algorithm 3 — CatBoost (Primary Classifier)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F(x) = Σₜ₌₁^T η · hₜ(x),   T=500 trees, η=0.05, depth≤6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P(fraud | x) = σ(F(x)) = 1 / (1 + e^(−F(x)))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Decision: fraud_prediction = 1  if  P(fraud) ≥ 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Gradient boosting: each tree hₜ corrects errors of previous trees.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Depth 6 = up to 6 sequential split rules per tree (category, amount, time…).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auto_class_weights=Balanced penalises misclassified fraud more heavily.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500 trees × 13 scaled features → fraud probability in [0, 1].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DFFA8"/>
                </a:solidFill>
              </a:defRPr>
            </a:pPr>
            <a:r>
              <a:t>Algorithm 4 — StandardScaler (Preprocessing)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x_scaled = (x − μ_train) / σ_train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Fit on SMOTE-balanced train; transform train &amp; test identically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Puts all 13 features on comparable scale (mean 0, variance 1).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Critical for distance-based anomaly detection and stable tree splits.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Scaler saved to artifacts/scaler.joblib for serving-time consistency.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DFFA8"/>
                </a:solidFill>
              </a:defRPr>
            </a:pPr>
            <a:r>
              <a:t>Algorithm 5 — Kolmogorov–Smirnov Drift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KS = max_x | F_train(x) − F_test(x) |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Drift if p-value &lt; α  (α = 0.05)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Governance: alert if ≥3 features drift; block if ≥10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Compares cumulative distribution of each feature: train vs production/test.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Detected drift on unix_time and trans_dow — temporal shift between splits.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Feeds L1 governance — operators alerted before model silently degrades.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DFFA8"/>
                </a:solidFill>
              </a:defRPr>
            </a:pPr>
            <a:r>
              <a:t>Algorithm 6 — Isolation Forest (Anomaly Detection)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anomaly_score = −decision_function(x)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n_estimators = 100, contamination = 0.002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Shorter isolation path → higher anomaly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Unsupervised ensemble — no fraud labels needed at score time.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Random trees isolate points; outliers need fewer splits to separate.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Complements CatBoost in the live WebSocket stream for novel attack patterns.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DFFA8"/>
                </a:solidFill>
              </a:defRPr>
            </a:pPr>
            <a:r>
              <a:t>Evaluation Metrics (Mathematics)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ROC-AUC = ∫ TPR(FPR) d(FPR)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Precision = TP / (TP + FP),   Recall = TP / (TP + FN)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F1 = 2 · Precision · Recall / (Precision + Recall)</a:t>
            </a:r>
          </a:p>
          <a:p>
            <a:pPr>
              <a:defRPr sz="1300">
                <a:solidFill>
                  <a:srgbClr val="3DFFA8"/>
                </a:solidFill>
                <a:latin typeface="Courier New"/>
              </a:defRPr>
            </a:pPr>
            <a:r>
              <a:t>Accuracy = (TP + TN) / N  — misleading when fraud &lt; 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Our test results: ROC-AUC=0.9851, F1=0.6887, Precision=0.704, Recall=0.674.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Confusion matrix: TP=271, FN=131, FP=114, TN=99,484 (100k test rows).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• Balanced accuracy (0.836) is fairer than raw accuracy (0.998) under imbalance.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Class Imbalance</a:t>
            </a:r>
          </a:p>
        </p:txBody>
      </p:sp>
      <p:pic>
        <p:nvPicPr>
          <p:cNvPr id="3" name="Picture 2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239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Blue bars = legitimate transactions; red = fraud.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Train fraud rate ~0.82%; test ~0.40% — extreme imbalance (~1000:1).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Justifies SMOTE on train and ROC-AUC/F1 as primary metrics, not accuracy.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Transaction Amount Distribution</a:t>
            </a:r>
          </a:p>
        </p:txBody>
      </p:sp>
      <p:pic>
        <p:nvPicPr>
          <p:cNvPr id="3" name="Picture 2" descr="amoun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239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Histogram of log(1 + amount) for legit (blue) vs fraud (red).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Fraud transactions skew toward higher amounts (mean ~$509 vs ~$68 legit).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Confirms amt as the 2nd most important CatBoost feature after category.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Fraud Rate by Category</a:t>
            </a:r>
          </a:p>
        </p:txBody>
      </p:sp>
      <p:pic>
        <p:nvPicPr>
          <p:cNvPr id="3" name="Picture 2" descr="category_fraud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543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Each bar = merchant category (shopping_net, travel, grocery, etc.).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Category shows the widest fraud-rate spread — explains ~64% feature importance.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CatBoost learns different risk profiles per merchant type.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Fraud Rate by Hour</a:t>
            </a:r>
          </a:p>
        </p:txBody>
      </p:sp>
      <p:pic>
        <p:nvPicPr>
          <p:cNvPr id="3" name="Picture 2" descr="hour_fra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239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Line chart: fraud rate vs hour of day (0–23) from trans_date_trans_time.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Temporal patterns motivate trans_hour and trans_dow as model inputs.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KS drift on unix_time/trans_dow reflects train vs test time shift.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SMOTE Class Balance</a:t>
            </a:r>
          </a:p>
        </p:txBody>
      </p:sp>
      <p:pic>
        <p:nvPicPr>
          <p:cNvPr id="3" name="Picture 2" descr="smote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779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Before SMOTE: ~198k legit vs ~1.6k fraud. After: classes balanced (~1:1).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Synthetic fraud points fill the feature space between real fraud neighbours.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Only training data is resampled — test evaluation stays realistic.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Model Metrics Summary</a:t>
            </a:r>
          </a:p>
        </p:txBody>
      </p:sp>
      <p:pic>
        <p:nvPicPr>
          <p:cNvPr id="3" name="Picture 2" descr="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1889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Bar chart of ROC-AUC, Average Precision, F1, Precision, Recall, Balanced Acc.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ROC-AUC 0.985 = excellent ranking; F1 0.689 = realistic under imbalance.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Average Precision (0.709) focuses specifically on the fraud class.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4535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Rows = actual class; columns = predicted class at threshold 0.5.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271 true positives (fraud caught); 131 false negatives (fraud missed).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114 false positives (legit flagged) — acceptable cost for fraud prevention.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Threshold Sensitivity</a:t>
            </a:r>
          </a:p>
        </p:txBody>
      </p:sp>
      <p:pic>
        <p:nvPicPr>
          <p:cNvPr id="3" name="Picture 2" descr="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239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Lines show precision (blue), recall (red), F1 (green) vs threshold.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Lower threshold → more fraud caught but more false alarms.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Default 0.5 balances precision (0.70) and recall (0.67).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543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CatBoost gain-based importance across all 500 trees.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category dominates (~64%); amt (~11%); gender (~9%); geo features smaller.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Guides feature engineering priorities and business interpretation.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KS Drift Report</a:t>
            </a:r>
          </a:p>
        </p:txBody>
      </p:sp>
      <p:pic>
        <p:nvPicPr>
          <p:cNvPr id="3" name="Picture 2" descr="drift_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31889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Red bars = drift detected (p &lt; 0.05); blue = no significant drift.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unix_time KS=1.0 — complete temporal distribution shift train→test.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Governance uses this to alert operators before silent model degradation.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FFA8"/>
                </a:solidFill>
              </a:defRPr>
            </a:pPr>
            <a:r>
              <a:t>Visualization — PCA Projection (2D)</a:t>
            </a:r>
          </a:p>
        </p:txBody>
      </p:sp>
      <p:pic>
        <p:nvPicPr>
          <p:cNvPr id="3" name="Picture 2" descr="pca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69280" cy="4251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FFA8"/>
                </a:solidFill>
              </a:defRPr>
            </a:pPr>
            <a:r>
              <a:t>What this shows: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2 principal components of scaled training features after StandardScaler.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Points coloured by Class: fraud (1) vs legitimate (0).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Exploratory only — PCA is NOT fed to CatBoost (13 original features used).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Shows partial separation of fraud in reduced 2D space.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FFA8"/>
                </a:solidFill>
              </a:defRPr>
            </a:pPr>
            <a:r>
              <a:t>Methodology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1. Ingest fraudTrain / fraudTest CSVs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2. Featurize: time, Haversine distance, label-encode categoricals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3. Clean: dedupe, median impute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4. SMOTE balance training labels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5. StandardScaler fit/transform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6. Train CatBoost (500 trees, depth 6)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7. Evaluate on held-out fraudTest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8. Fit KS drift baseline; run drift check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9. Train Isolation Forest; register model; apply governance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FFA8"/>
                </a:solidFill>
              </a:defRPr>
            </a:pPr>
            <a:r>
              <a:t>Accuracies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ROC-AUC: 0.9851 — strong fraud vs legit ranking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F1 Score: 0.6887 at threshold 0.5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Precision: 0.7039 — 70% of flags are true fraud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Recall: 0.6741 — 67% of fraud cases detected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Average Precision: 0.7093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Model: 500 CatBoost trees, depth 6, 13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Production version: v_f381139c (Model Registry)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FFA8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Conclusions: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Seven-layer architecture separates policy from ML computation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CatBoost + SMOTE achieves strong ROC-AUC on imbalanced fraud data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Visualizations confirm category and amount drive predictions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KS drift monitoring supports adversarial / temporal shift awareness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Future: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SHAP explanations, automated retrain, cloud deployment, API auth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3405" y="2560320"/>
            <a:ext cx="3171830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DFFA8"/>
                </a:solidFill>
              </a:defRPr>
            </a:pPr>
            <a:r>
              <a:rPr dirty="0"/>
              <a:t>Thank You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rPr dirty="0"/>
              <a:t>Nick </a:t>
            </a:r>
            <a:r>
              <a:rPr lang="en-US" dirty="0"/>
              <a:t>	Mwaura</a:t>
            </a:r>
            <a:r>
              <a:rPr dirty="0"/>
              <a:t>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1941</Words>
  <Application>Microsoft Macintosh PowerPoint</Application>
  <PresentationFormat>Widescreen</PresentationFormat>
  <Paragraphs>176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.</cp:lastModifiedBy>
  <cp:revision>2</cp:revision>
  <dcterms:created xsi:type="dcterms:W3CDTF">2013-01-27T09:14:16Z</dcterms:created>
  <dcterms:modified xsi:type="dcterms:W3CDTF">2026-06-19T19:33:21Z</dcterms:modified>
  <cp:category/>
</cp:coreProperties>
</file>